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開場：這份是教室即時架構的內部技術規劃，回答兩個問題——白板同步怎麼做到像 Agora 一樣順、以及整體成本怎麼降。結論先講：白板已用 WebRTC P2P 傳輸做出 POC 並驗證通過；真正的成本大頭是影音（Agora），有清楚的分階段降本路徑。今天走完現況、兩個核心問題、白板架構、白板與影音兩張成本表、免費額度、遷移路徑，最後用白話跟 Agora 做對比。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每一組 1 對 1 教室現在同時用到六個服務：Agora RTC 影音、Agora RTM 信令、Netless 白板都是付費 SDK；Lambda/DynamoDB/S3 是 AWS 基礎設施。課堂規格固定 50 分鐘、2 人。這裡最重要的一句話：Agora 影音佔總費用約 93%，其他全部加起來不到 5%。所以降本要先盯影音，不是白板。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兩個核心痛點。左邊：影音成本沒有上限，50 堂/天約 559 美元、100 堂/天破千，成長越快帳單越不可預測。右邊：白板舊模型把所有筆畫塞進一個 DynamoDB item，每次畫一筆就重寫整塊，寫入成本隨筆數平方成長——76 筆時單次寫要 52 個 WCU，不清空的大板可能從 30 飆到 225 美元一個月。兩個問題的共同解法：把「即時傳輸」和「持久化儲存」分開——筆畫走即時通道不落 DB，DB 只留一份當前板面快照。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白板的即時同步做成三層、由上往下自動回退。第一層 WebRTC DataChannel 是 P2P、走 UDP，是主路徑，筆畫完全不寫 DB；用雙通道——可靠有序的 wb-ctl 送控制與最終筆畫，不可靠的 wb-pts 送繪製中的增量點，丟包不重傳、由最終筆畫補齊，這就是 Agora 那種「丟就丟、不卡」的手感。第二層是 DynamoDB 單一快照，約 5 秒一次、只有發起方寫，供重整/晚進/冷啟動恢復。第三層是輪詢，DataChannel 開通時會暫停以省讀取。角色選舉由老師發起，避免雙方都 offer；晚進用 request-state 分塊補板；斷線用指數退避重連。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白板三個方案並排。Netless 是現況、線性可預測但要付費 SDK；Canvas+DynamoDB 會平方放大、已淘汰；Canvas+WebRTC 是我們推薦的——每堂近乎零成本、只留一份快照、POC 已驗證。結論：1 對 1 家教用 Canvas+WebRTC 最省最順；1 對多要 SFU，屬於後面的階段，不在這次範圍。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影音成本對照，這是省錢的重點，而且這張表已經把各家免費額度扣掉了。Agora 欄已扣除每月 10,000 分鐘免費額度，即使如此 50 堂/天仍要 559、100 堂/天破千且無上限。自架 LiveKit 是固定費用封頂，50 堂約 130。最關鍵是 Cloudflare SFU：前 1 TB egress 免費、TURN 也免費，以每堂 0.75 GB 估，10 堂/天完全在免費內趨近 0、50 堂只超 125 GB 約 6 美元、100 堂約 62。損益兩平點約每天 22 堂。這些是估算，上線前會用真實憑證校準。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這頁把各服務免費額度攤開，說明為什麼起步階段幾乎零成本。Agora 每月 10,000 分鐘免費，小規模或測試期大多在裡面；Cloudflare SFU 加 TURN 每月 1 TB egress 免費，是媒體幾乎免費的關鍵；DynamoDB 25 GB 儲存永久免費，而白板只留一份快照、量很小；Amplify SSR 有 50 萬請求與 100 GB-h、S3 有 100 GB egress、Gmail SMTP 每天約 500 封信，一般負載都落在免費區。API Gateway WebSocket 是即時信令、可替代 Agora RTM，50 堂/天約 2 美元。唯一固定支出是若採用 Render 跑 WS/Redis，約每月 21 美元、可預測。結論在下方藍框：上線初期多在免費或低費區，成本壓力要到規模化才顯現——所以架構重點是規模化時能否封頂，而非起步費用。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遷移就兩步、順序很重要，每步都靠環境變數切換、可隨時回滾，Agora 全程保留當回退。階段 0 先保留 Agora 全套、完成 10 組壓測驗收，不動架構。階段 1 先換白板：EnhancedWhiteboard 走 WebRTC P2P，畫筆走 UDP 不進資料庫、只留一份快照——這步零風險又省 DB，已經驗證過。階段 2 再換影音：Agora 換成 Cloudflare Realtime SFU，程式已完成、預設關閉，前 1 TB egress 加 TURN 免費，50 堂/天媒體從 559 降到約 6 美元、省九成九。重點順序：白板先換（穩、省 DB），影音後換（省最多）。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用最白話的方式跟 Agora 比。Agora 就像「租大公司蓋好的網路」，任何網路都連得上、能一位老師對多位學生、他們全包維護，缺點是要付費而且用越多越貴、沒有上限。我們的做法是「讓老師和學生的裝置直接連在一起」，一對一最省最順、畫筆也不會塞爆資料庫，缺點是少數網路要靠一台中繼伺服器繞一下、要多人得另外加設備、也要自己準備那台幫忙連線的伺服器。最後底下那句話很重要：之前測 10 組同時上課會當掉，是因為一台電腦硬開了 20 個瀏覽器視窗、記憶體不夠，不是連線技術有問題——真正上課每個人用自己的裝置，不會擠在同一台。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28016" cy="182880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FB6C9"/>
                </a:solidFill>
                <a:latin typeface="Microsoft JhengHei"/>
              </a:rPr>
              <a:t>JV TUTOR CORNER  ·  線上家教教室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1024128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教室即時架構規劃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icrosoft JhengHei"/>
              </a:rPr>
              <a:t>與成本比較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033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9D6DF"/>
                </a:solidFill>
                <a:latin typeface="Microsoft JhengHei"/>
              </a:rPr>
              <a:t>白板即時同步 · 影音串流成本 · 分階段遷移路徑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97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C94A6"/>
                </a:solidFill>
                <a:latin typeface="Microsoft JhengHei"/>
              </a:rPr>
              <a:t>2026-09-19   ·   canvas 白板 WebRTC 傳輸 POC 已驗證   ·   內部技術規劃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CURRENT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現況架構：每組 1 對 1 教室的計費服務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82296" cy="1600200"/>
          </a:xfrm>
          <a:prstGeom prst="rect">
            <a:avLst/>
          </a:prstGeom>
          <a:solidFill>
            <a:srgbClr val="D1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481328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Agora RTC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874520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視訊 / 音訊串流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付費 SDK · 隨用量計費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37160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371600"/>
            <a:ext cx="82296" cy="1600200"/>
          </a:xfrm>
          <a:prstGeom prst="rect">
            <a:avLst/>
          </a:prstGeom>
          <a:solidFill>
            <a:srgbClr val="3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481328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Agora RTM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874520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信令 / 翻頁同步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付費 SDK · 量小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1371600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371600"/>
            <a:ext cx="82296" cy="1600200"/>
          </a:xfrm>
          <a:prstGeom prst="rect">
            <a:avLst/>
          </a:prstGeom>
          <a:solidFill>
            <a:srgbClr val="3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481328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Netless WB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1874520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白板畫筆同步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付費 SDK · Singapore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27832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27832"/>
            <a:ext cx="82296" cy="160020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337560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AWS Lambda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730752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Next.js SSR /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Amplify · ap-northeast-1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227832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227832"/>
            <a:ext cx="82296" cy="160020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337560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DynamoDB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730752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白板狀態 / PDF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PAY_PER_REQUEST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6" y="3227832"/>
            <a:ext cx="3611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3227832"/>
            <a:ext cx="82296" cy="160020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337560"/>
            <a:ext cx="3300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AWS S3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730752"/>
            <a:ext cx="3300984" cy="1051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PDF 檔案儲存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674"/>
                </a:solidFill>
                <a:latin typeface="Microsoft JhengHei"/>
              </a:rPr>
              <a:t>jvtutorcorner-uploads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94960"/>
            <a:ext cx="111556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02C"/>
                </a:solidFill>
                <a:latin typeface="Microsoft JhengHei"/>
              </a:rPr>
              <a:t>課堂規格： </a:t>
            </a:r>
            <a:r>
              <a:rPr sz="1300" b="0">
                <a:solidFill>
                  <a:srgbClr val="5B6674"/>
                </a:solidFill>
                <a:latin typeface="Microsoft JhengHei"/>
              </a:rPr>
              <a:t>固定 50 分鐘／堂，1 教師 + 1 學生（2 users/session）。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1403C"/>
                </a:solidFill>
                <a:latin typeface="Microsoft JhengHei"/>
              </a:rPr>
              <a:t>關鍵事實： </a:t>
            </a:r>
            <a:r>
              <a:rPr sz="1300" b="0">
                <a:solidFill>
                  <a:srgbClr val="1A202C"/>
                </a:solidFill>
                <a:latin typeface="Microsoft JhengHei"/>
              </a:rPr>
              <a:t>Agora RTC（影音）佔總費用 ~93%，其餘服務相加不到 5%。白板、Lambda、DB、S3 都不是成本大頭。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兩個核心問題：影音貴、白板寫爆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440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440680" cy="640080"/>
          </a:xfrm>
          <a:prstGeom prst="rect">
            <a:avLst/>
          </a:prstGeom>
          <a:solidFill>
            <a:srgbClr val="D1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81328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① 影音成本無上限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93776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02C"/>
                </a:solidFill>
                <a:latin typeface="Microsoft JhengHei"/>
              </a:rPr>
              <a:t>Agora RTC 依用量計費、</a:t>
            </a:r>
            <a:r>
              <a:rPr sz="1300" b="1">
                <a:solidFill>
                  <a:srgbClr val="D1403C"/>
                </a:solidFill>
                <a:latin typeface="Microsoft JhengHei"/>
              </a:rPr>
              <a:t>沒有封頂</a:t>
            </a:r>
            <a:r>
              <a:rPr sz="1300" b="0">
                <a:solidFill>
                  <a:srgbClr val="1A202C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02C"/>
                </a:solidFill>
                <a:latin typeface="Microsoft JhengHei"/>
              </a:rPr>
              <a:t>• 50 堂/天 ≈ </a:t>
            </a:r>
            <a:r>
              <a:rPr sz="1250" b="1">
                <a:solidFill>
                  <a:srgbClr val="D1403C"/>
                </a:solidFill>
                <a:latin typeface="Microsoft JhengHei"/>
              </a:rPr>
              <a:t>$559/月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02C"/>
                </a:solidFill>
                <a:latin typeface="Microsoft JhengHei"/>
              </a:rPr>
              <a:t>• 100 堂/天 ≈ </a:t>
            </a:r>
            <a:r>
              <a:rPr sz="1250" b="1">
                <a:solidFill>
                  <a:srgbClr val="D1403C"/>
                </a:solidFill>
                <a:latin typeface="Microsoft JhengHei"/>
              </a:rPr>
              <a:t>$1,157/月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02C"/>
                </a:solidFill>
                <a:latin typeface="Microsoft JhengHei"/>
              </a:rPr>
              <a:t>• 佔平台總成本 </a:t>
            </a:r>
            <a:r>
              <a:rPr sz="1250" b="1">
                <a:solidFill>
                  <a:srgbClr val="D1403C"/>
                </a:solidFill>
                <a:latin typeface="Microsoft JhengHei"/>
              </a:rPr>
              <a:t>93%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1A202C"/>
                </a:solidFill>
                <a:latin typeface="Microsoft JhengHe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4"/>
                </a:solidFill>
                <a:latin typeface="Microsoft JhengHei"/>
              </a:rPr>
              <a:t>成長越快，帳單越大且難以預測。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40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440680" cy="640080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81328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② 白板寫入放大 O(N²)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4937760" cy="3200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202C"/>
                </a:solidFill>
                <a:latin typeface="Microsoft JhengHei"/>
              </a:rPr>
              <a:t>舊模型把所有筆畫塞一個 DynamoDB item，每次 stroke-update 重寫整塊：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• WCU = item 大小（≈0.68KB/筆）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• 76 筆時每次寫 </a:t>
            </a:r>
            <a:r>
              <a:rPr sz="1200" b="1">
                <a:solidFill>
                  <a:srgbClr val="E88A1A"/>
                </a:solidFill>
                <a:latin typeface="Microsoft JhengHei"/>
              </a:rPr>
              <a:t>52 WCU</a:t>
            </a:r>
            <a:r>
              <a:rPr sz="1200" b="0">
                <a:solidFill>
                  <a:srgbClr val="1A202C"/>
                </a:solidFill>
                <a:latin typeface="Microsoft JhengHei"/>
              </a:rPr>
              <a:t>，總量 O(N²)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• 不清空的大板：$30 → </a:t>
            </a:r>
            <a:r>
              <a:rPr sz="1200" b="1">
                <a:solidFill>
                  <a:srgbClr val="E88A1A"/>
                </a:solidFill>
                <a:latin typeface="Microsoft JhengHei"/>
              </a:rPr>
              <a:t>$225/月</a:t>
            </a:r>
            <a:r>
              <a:rPr sz="1100" b="0">
                <a:solidFill>
                  <a:srgbClr val="5B6674"/>
                </a:solidFill>
                <a:latin typeface="Microsoft JhengHei"/>
              </a:rPr>
              <a:t>（@50 堂/日）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1A202C"/>
                </a:solidFill>
                <a:latin typeface="Microsoft JhengHe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4"/>
                </a:solidFill>
                <a:latin typeface="Microsoft JhengHei"/>
              </a:rPr>
              <a:t>實測：每畫 1 筆約 6 次寫 + 每次先強一致讀。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4A08A"/>
                </a:solidFill>
                <a:latin typeface="Microsoft JhengHei"/>
              </a:rPr>
              <a:t>正解： </a:t>
            </a:r>
            <a:r>
              <a:rPr sz="1400" b="0">
                <a:solidFill>
                  <a:srgbClr val="1A202C"/>
                </a:solidFill>
                <a:latin typeface="Microsoft JhengHei"/>
              </a:rPr>
              <a:t>傳輸與儲存分離 —— 即時筆畫走即時通道（不落 DB），DB 只留一份「當前板面快照」。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WHITEBOARD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白板即時同步：三層傳輸，自動回退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920240" cy="128016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16916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① 即時層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63624"/>
            <a:ext cx="8869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WebRTC DataChannel（P2P / UDP）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4A08A"/>
                </a:solidFill>
                <a:latin typeface="Microsoft JhengHei"/>
              </a:rPr>
              <a:t>主路徑 · 筆畫零 DB 寫入 · 延遲近即時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雙通道：wb-ctl 可靠有序（控制＋最終筆畫）＋ wb-pts 不可靠（繪製中增量點，丟包不重傳）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2679192"/>
            <a:ext cx="457200" cy="256032"/>
          </a:xfrm>
          <a:prstGeom prst="downArrow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53512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53512"/>
            <a:ext cx="1920240" cy="1280160"/>
          </a:xfrm>
          <a:prstGeom prst="rect">
            <a:avLst/>
          </a:prstGeom>
          <a:solidFill>
            <a:srgbClr val="3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2"/>
            <a:ext cx="16916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② 近即時層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099816"/>
            <a:ext cx="8869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DynamoDB 單一快照（~5s 一次，僅 offerer 寫）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3B4C9A"/>
                </a:solidFill>
                <a:latin typeface="Microsoft JhengHei"/>
              </a:rPr>
              <a:t>重整 / 晚進 / 冷啟動回退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DB 永遠只有一個快照 item —— 可預測、不放大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52160" y="4215384"/>
            <a:ext cx="457200" cy="256032"/>
          </a:xfrm>
          <a:prstGeom prst="downArrow">
            <a:avLst/>
          </a:prstGeom>
          <a:solidFill>
            <a:srgbClr val="D7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9704"/>
            <a:ext cx="11155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9704"/>
            <a:ext cx="1920240" cy="128016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9704"/>
            <a:ext cx="1691640" cy="12801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③ 回退層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636008"/>
            <a:ext cx="886968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/api/whiteboard/state 輪詢（自適應 400ms→2.5s）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5B6674"/>
                </a:solidFill>
                <a:latin typeface="Microsoft JhengHei"/>
              </a:rPr>
              <a:t>DataChannel 開通時暫停，省 Lambda/DB 讀取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無 WebRTC 時仍可用；正式環境現況亦走此路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30936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A08A"/>
                </a:solidFill>
                <a:latin typeface="Microsoft JhengHei"/>
              </a:rPr>
              <a:t>角色選舉： </a:t>
            </a:r>
            <a:r>
              <a:rPr sz="1250" b="0">
                <a:solidFill>
                  <a:srgbClr val="5B6674"/>
                </a:solidFill>
                <a:latin typeface="Microsoft JhengHei"/>
              </a:rPr>
              <a:t>老師 offer；同角色以 id 字典序決定，不會雙方都 offer。</a:t>
            </a:r>
            <a:r>
              <a:rPr sz="1250" b="1">
                <a:solidFill>
                  <a:srgbClr val="14A08A"/>
                </a:solidFill>
                <a:latin typeface="Microsoft JhengHei"/>
              </a:rPr>
              <a:t>   晚進： </a:t>
            </a:r>
            <a:r>
              <a:rPr sz="1250" b="0">
                <a:solidFill>
                  <a:srgbClr val="5B6674"/>
                </a:solidFill>
                <a:latin typeface="Microsoft JhengHei"/>
              </a:rPr>
              <a:t>request-state 分塊補板。   </a:t>
            </a:r>
            <a:r>
              <a:rPr sz="1250" b="1">
                <a:solidFill>
                  <a:srgbClr val="14A08A"/>
                </a:solidFill>
                <a:latin typeface="Microsoft JhengHei"/>
              </a:rPr>
              <a:t>重連： </a:t>
            </a:r>
            <a:r>
              <a:rPr sz="1250" b="0">
                <a:solidFill>
                  <a:srgbClr val="5B6674"/>
                </a:solidFill>
                <a:latin typeface="Microsoft JhengHei"/>
              </a:rPr>
              <a:t>指數退避重握手。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WHITEBOARD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白板方案比較（每堂 50 分、2 人估算）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103120" cy="658368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0116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371600"/>
            <a:ext cx="30175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371600"/>
            <a:ext cx="29260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Netless（現況）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23560" y="1371600"/>
            <a:ext cx="3017520" cy="65836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71600"/>
            <a:ext cx="29260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Canvas + DynamoDB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371600"/>
            <a:ext cx="3017520" cy="65836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371600"/>
            <a:ext cx="2926080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Canvas + WebRTC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29968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029968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每堂成本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029968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9192" y="202996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~$0.38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029968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202996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$0.02–0.15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2029968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14232" y="202996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≈ $0（僅快照）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88336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2688336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成長曲線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688336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9192" y="2688336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線性可預測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2688336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2688336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二次、不可預測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2688336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14232" y="2688336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近乎零、可預測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346704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346704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傳輸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3346704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9192" y="3346704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供應商中繼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346704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96712" y="3346704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DB 輪詢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3346704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14232" y="3346704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P2P DataChannel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005072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005072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維運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4005072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9192" y="4005072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3560" y="4005072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96712" y="4005072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1080" y="4005072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14232" y="4005072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自扛 STUN/TURN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63440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4663440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授權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4663440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9192" y="4663440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付費 SDK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4663440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96712" y="4663440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自寫（免費）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41080" y="4663440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14232" y="4663440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自寫（免費）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321808"/>
            <a:ext cx="2103120" cy="658368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5321808"/>
            <a:ext cx="19568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狀態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5321808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9192" y="532180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正式環境使用中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3560" y="5321808"/>
            <a:ext cx="3017520" cy="65836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96712" y="532180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已淘汰（會放大）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41080" y="5321808"/>
            <a:ext cx="3017520" cy="658368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14232" y="5321808"/>
            <a:ext cx="2871216" cy="6583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B6B5B"/>
                </a:solidFill>
                <a:latin typeface="Microsoft JhengHei"/>
              </a:rPr>
              <a:t>POC 已驗證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30936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A08A"/>
                </a:solidFill>
                <a:latin typeface="Microsoft JhengHei"/>
              </a:rPr>
              <a:t>結論： </a:t>
            </a:r>
            <a:r>
              <a:rPr sz="1250" b="0">
                <a:solidFill>
                  <a:srgbClr val="1A202C"/>
                </a:solidFill>
                <a:latin typeface="Microsoft JhengHei"/>
              </a:rPr>
              <a:t>1 對 1 家教用 Canvas + WebRTC 最省最順；DB 只留一份快照。1 對多需 SFU（Phase 2），非本次範圍。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VIDEO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影音（RTC）月費對照 —— 已扣除各家免費額度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74320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743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方案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160020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371600"/>
            <a:ext cx="1600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10 堂/天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371600"/>
            <a:ext cx="160020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371600"/>
            <a:ext cx="1600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50 堂/天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371600"/>
            <a:ext cx="160020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16002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100 堂/天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61188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371600"/>
            <a:ext cx="361188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免費額度（每月）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1488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148840"/>
            <a:ext cx="73152" cy="777240"/>
          </a:xfrm>
          <a:prstGeom prst="rect">
            <a:avLst/>
          </a:prstGeom>
          <a:solidFill>
            <a:srgbClr val="D1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148840"/>
            <a:ext cx="2596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Microsoft JhengHei"/>
              </a:rPr>
              <a:t>現況 Agora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148840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14884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1403C"/>
                </a:solidFill>
                <a:latin typeface="Microsoft JhengHei"/>
              </a:rPr>
              <a:t>$80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148840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214884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1403C"/>
                </a:solidFill>
                <a:latin typeface="Microsoft JhengHei"/>
              </a:rPr>
              <a:t>$559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148840"/>
            <a:ext cx="1600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14884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1403C"/>
                </a:solidFill>
                <a:latin typeface="Microsoft JhengHei"/>
              </a:rPr>
              <a:t>$1,157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148840"/>
            <a:ext cx="36118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148840"/>
            <a:ext cx="346557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10,000 分鐘（已扣）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26080"/>
            <a:ext cx="2743200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926080"/>
            <a:ext cx="73152" cy="777240"/>
          </a:xfrm>
          <a:prstGeom prst="rect">
            <a:avLst/>
          </a:prstGeom>
          <a:solidFill>
            <a:srgbClr val="1E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926080"/>
            <a:ext cx="2596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Microsoft JhengHei"/>
              </a:rPr>
              <a:t>LiveKit · 自架 EC2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2926080"/>
            <a:ext cx="1600200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292608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~$90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2926080"/>
            <a:ext cx="1600200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292608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~$130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926080"/>
            <a:ext cx="1600200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292608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~$175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2926080"/>
            <a:ext cx="3611880" cy="7772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2926080"/>
            <a:ext cx="346557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AWS egress 100GB（已扣）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703320"/>
            <a:ext cx="2743200" cy="777240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703320"/>
            <a:ext cx="73152" cy="77724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703320"/>
            <a:ext cx="2596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02C"/>
                </a:solidFill>
                <a:latin typeface="Microsoft JhengHei"/>
              </a:rPr>
              <a:t>Cloudflare SFU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703320"/>
            <a:ext cx="1600200" cy="777240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370332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Microsoft JhengHei"/>
              </a:rPr>
              <a:t>≈ $0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03320"/>
            <a:ext cx="1600200" cy="777240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70332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Microsoft JhengHei"/>
              </a:rPr>
              <a:t>~$6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703320"/>
            <a:ext cx="1600200" cy="777240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703320"/>
            <a:ext cx="145389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Microsoft JhengHei"/>
              </a:rPr>
              <a:t>~$62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3703320"/>
            <a:ext cx="3611880" cy="777240"/>
          </a:xfrm>
          <a:prstGeom prst="rect">
            <a:avLst/>
          </a:prstGeom>
          <a:solidFill>
            <a:srgbClr val="E3F4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3703320"/>
            <a:ext cx="3465576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202C"/>
                </a:solidFill>
                <a:latin typeface="Microsoft JhengHei"/>
              </a:rPr>
              <a:t>1 TB egress + TURN 免費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029200"/>
            <a:ext cx="111556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A202C"/>
                </a:solidFill>
                <a:latin typeface="Microsoft JhengHei"/>
              </a:rPr>
              <a:t>媒體用量基準： </a:t>
            </a:r>
            <a:r>
              <a:rPr sz="1250" b="0">
                <a:solidFill>
                  <a:srgbClr val="5B6674"/>
                </a:solidFill>
                <a:latin typeface="Microsoft JhengHei"/>
              </a:rPr>
              <a:t>每堂 0.75 GB → 10/50/100 堂約 225 / 1,125 / 2,250 GB/月。Cloudflare 前 1 TB 免費 → 10 堂全在免費內、50 堂僅超 125 GB。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A202C"/>
                </a:solidFill>
                <a:latin typeface="Microsoft JhengHei"/>
              </a:rPr>
              <a:t>損益兩平點： </a:t>
            </a:r>
            <a:r>
              <a:rPr sz="1250" b="0">
                <a:solidFill>
                  <a:srgbClr val="5B6674"/>
                </a:solidFill>
                <a:latin typeface="Microsoft JhengHei"/>
              </a:rPr>
              <a:t>每天 &gt; 22 堂，自架（LiveKit）即優於 Agora。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>
                <a:solidFill>
                  <a:srgbClr val="14A08A"/>
                </a:solidFill>
                <a:latin typeface="Microsoft JhengHei"/>
              </a:rPr>
              <a:t>最省作法： </a:t>
            </a:r>
            <a:r>
              <a:rPr sz="1250" b="0">
                <a:solidFill>
                  <a:srgbClr val="1A202C"/>
                </a:solidFill>
                <a:latin typeface="Microsoft JhengHei"/>
              </a:rPr>
              <a:t>影音換 Cloudflare SFU —— 前 1 TB egress 免費、TURN 免費，媒體成本從 $559 降到 ~$6（50 堂/天），省 ~99%。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FREE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免費額度總覽 —— 平台起步階段幾乎零成本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880360" cy="4983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28803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服務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514600" cy="4983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5146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每月免費額度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1325880"/>
            <a:ext cx="2606040" cy="4983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325880"/>
            <a:ext cx="260604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超出後費率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325880"/>
            <a:ext cx="3154680" cy="498348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325880"/>
            <a:ext cx="31546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對本專案的意義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824228"/>
            <a:ext cx="28803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1824228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Agora RTC（影音）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824228"/>
            <a:ext cx="251460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1824228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10,000 user-min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1824228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608" y="1824228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$3.99 / 1,000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24228"/>
            <a:ext cx="315468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1824228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小規模／測試期多在免費內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322576"/>
            <a:ext cx="288036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322576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Cloudflare SFU + 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322576"/>
            <a:ext cx="251460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2322576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1 TB egress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322576"/>
            <a:ext cx="260604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8" y="2322576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$0.05 /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322576"/>
            <a:ext cx="315468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2322576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50 堂/天媒體僅 ~$6；TURN 免費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820924"/>
            <a:ext cx="28803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2820924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DynamoDB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2820924"/>
            <a:ext cx="251460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3008" y="2820924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25 GB 儲存（永久）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2820924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07608" y="2820924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寫 $0.71/M · 讀 $0.14/M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2820924"/>
            <a:ext cx="315468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2820924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白板只留 1 份快照，量小近乎免費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319272"/>
            <a:ext cx="288036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3319272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Amplify SSR (Lambda)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3319272"/>
            <a:ext cx="251460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93008" y="3319272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50 萬請求 · 100 GB-h · 15 GB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97880" y="3319272"/>
            <a:ext cx="260604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07608" y="3319272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$0.30/M · $0.20/GB-h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319272"/>
            <a:ext cx="315468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3648" y="3319272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一般負載多落在免費額度內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817620"/>
            <a:ext cx="28803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3817620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AWS S3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3817620"/>
            <a:ext cx="251460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93008" y="3817620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100 GB egress（全帳號）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97880" y="3817620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07608" y="3817620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$0.114 / GB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817620"/>
            <a:ext cx="315468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648" y="3817620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PDF 教材每堂 ~15 MB，量小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315968"/>
            <a:ext cx="288036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2648" y="4315968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API Gateway WebSocket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3280" y="4315968"/>
            <a:ext cx="251460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93008" y="4315968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計量制、量小免費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97880" y="4315968"/>
            <a:ext cx="260604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07608" y="4315968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$1 / 百萬訊息 + 連線費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03920" y="4315968"/>
            <a:ext cx="315468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13648" y="4315968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即時信令，可替代 Agora RTM；50 堂/天約 $2/月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814316"/>
            <a:ext cx="288036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648" y="4814316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Gmail SMTP（Email）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83280" y="4814316"/>
            <a:ext cx="251460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93008" y="4814316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~500 封/天（免費帳號）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97880" y="4814316"/>
            <a:ext cx="260604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07608" y="4814316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升級 Workspace 提高上限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4814316"/>
            <a:ext cx="3154680" cy="4983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13648" y="4814316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通知信量小，落在免費內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5312664"/>
            <a:ext cx="288036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" y="5312664"/>
            <a:ext cx="269748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202C"/>
                </a:solidFill>
                <a:latin typeface="Microsoft JhengHei"/>
              </a:rPr>
              <a:t>Render（WS/Redis，如採用）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83280" y="5312664"/>
            <a:ext cx="251460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93008" y="5312664"/>
            <a:ext cx="233172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無（固定月費）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97880" y="5312664"/>
            <a:ext cx="260604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007608" y="5312664"/>
            <a:ext cx="242316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2×Starter + KV Starter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3920" y="5312664"/>
            <a:ext cx="3154680" cy="498348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13648" y="5312664"/>
            <a:ext cx="2971800" cy="4983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1A202C"/>
                </a:solidFill>
                <a:latin typeface="Microsoft JhengHei"/>
              </a:rPr>
              <a:t>固定 ~$21/月，可預測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806440"/>
            <a:ext cx="11155680" cy="713232"/>
          </a:xfrm>
          <a:prstGeom prst="rect">
            <a:avLst/>
          </a:prstGeom>
          <a:solidFill>
            <a:srgbClr val="E3F4F0"/>
          </a:solidFill>
          <a:ln w="12700">
            <a:solidFill>
              <a:srgbClr val="14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5800" y="5806440"/>
            <a:ext cx="10972800" cy="7132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6B5B"/>
                </a:solidFill>
                <a:latin typeface="Microsoft JhengHei"/>
              </a:rPr>
              <a:t>上線起步階段（≤10 堂/天）多在免費／低費區；成本壓力要到規模化才顯現。架構決策的重點是「規模化時能不能封頂」，而不是起步費用。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MIGRATION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分階段遷移路徑（每階段獨立、可回滾）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737360" cy="1371600"/>
          </a:xfrm>
          <a:prstGeom prst="rect">
            <a:avLst/>
          </a:prstGeom>
          <a:solidFill>
            <a:srgbClr val="5B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45336"/>
            <a:ext cx="1645920" cy="11155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階段 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現在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600200"/>
            <a:ext cx="6492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A202C"/>
                </a:solidFill>
                <a:latin typeface="Microsoft JhengHei"/>
              </a:rPr>
              <a:t>保留 Agora 全套（影音＋信令＋白板）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674"/>
                </a:solidFill>
                <a:latin typeface="Microsoft JhengHei"/>
              </a:rPr>
              <a:t>完成 10 組壓測驗收，不動架構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618488"/>
            <a:ext cx="2377440" cy="969264"/>
          </a:xfrm>
          <a:prstGeom prst="rect">
            <a:avLst/>
          </a:prstGeom>
          <a:solidFill>
            <a:srgbClr val="F2F4F7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618488"/>
            <a:ext cx="2377440" cy="9692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5B6674"/>
                </a:solidFill>
                <a:latin typeface="Microsoft JhengHei"/>
              </a:rPr>
              <a:t>影音 $559/月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50 堂/天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1737360" cy="1371600"/>
          </a:xfrm>
          <a:prstGeom prst="rect">
            <a:avLst/>
          </a:prstGeom>
          <a:solidFill>
            <a:srgbClr val="3B4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99816"/>
            <a:ext cx="1645920" cy="11155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階段 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先換白板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154680"/>
            <a:ext cx="6492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A202C"/>
                </a:solidFill>
                <a:latin typeface="Microsoft JhengHei"/>
              </a:rPr>
              <a:t>白板改走 WebRTC P2P（EnhancedWhiteboard）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674"/>
                </a:solidFill>
                <a:latin typeface="Microsoft JhengHei"/>
              </a:rPr>
              <a:t>筆畫走 UDP 不進 DB，DB 只留 1 份快照；旗標 NEXT_PUBLIC_WHITEBOARD_RTC=1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3172968"/>
            <a:ext cx="2377440" cy="969264"/>
          </a:xfrm>
          <a:prstGeom prst="rect">
            <a:avLst/>
          </a:prstGeom>
          <a:solidFill>
            <a:srgbClr val="F2F4F7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172968"/>
            <a:ext cx="2377440" cy="9692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3B4C9A"/>
                </a:solidFill>
                <a:latin typeface="Microsoft JhengHei"/>
              </a:rPr>
              <a:t>白板 → 快照成本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已驗證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526280"/>
            <a:ext cx="11155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526280"/>
            <a:ext cx="1737360" cy="1371600"/>
          </a:xfrm>
          <a:prstGeom prst="rect">
            <a:avLst/>
          </a:prstGeom>
          <a:solidFill>
            <a:srgbClr val="1E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54296"/>
            <a:ext cx="1645920" cy="111556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階段 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Microsoft JhengHei"/>
              </a:rPr>
              <a:t>再換影音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709160"/>
            <a:ext cx="649224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550" b="1">
                <a:solidFill>
                  <a:srgbClr val="1A202C"/>
                </a:solidFill>
                <a:latin typeface="Microsoft JhengHei"/>
              </a:rPr>
              <a:t>影音 Agora RTC → Cloudflare Realtime SFU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674"/>
                </a:solidFill>
                <a:latin typeface="Microsoft JhengHei"/>
              </a:rPr>
              <a:t>程式已完成、預設關閉；前 1 TB egress + TURN 免費；旗標可切回 Agora 回滾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27448"/>
            <a:ext cx="2377440" cy="969264"/>
          </a:xfrm>
          <a:prstGeom prst="rect">
            <a:avLst/>
          </a:prstGeom>
          <a:solidFill>
            <a:srgbClr val="F2F4F7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727448"/>
            <a:ext cx="2377440" cy="96926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E8E4F"/>
                </a:solidFill>
                <a:latin typeface="Microsoft JhengHei"/>
              </a:rPr>
              <a:t>媒體 ~$6/月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B6674"/>
                </a:solidFill>
                <a:latin typeface="Microsoft JhengHei"/>
              </a:rPr>
              <a:t>省 ~99%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172200"/>
            <a:ext cx="11155680" cy="566928"/>
          </a:xfrm>
          <a:prstGeom prst="rect">
            <a:avLst/>
          </a:prstGeom>
          <a:solidFill>
            <a:srgbClr val="E3F4F0"/>
          </a:solidFill>
          <a:ln w="12700">
            <a:solidFill>
              <a:srgbClr val="14A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09728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6B5B"/>
                </a:solidFill>
                <a:latin typeface="Microsoft JhengHei"/>
              </a:rPr>
              <a:t>重點： </a:t>
            </a:r>
            <a:r>
              <a:rPr sz="1300" b="0">
                <a:solidFill>
                  <a:srgbClr val="0B6B5B"/>
                </a:solidFill>
                <a:latin typeface="Microsoft JhengHei"/>
              </a:rPr>
              <a:t>白板先換（零風險、省 DB），影音後換（省最多）。兩者都用環境變數切換，Agora 全程保留為回退。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"/>
            <a:ext cx="96012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A08A"/>
                </a:solidFill>
                <a:latin typeface="Microsoft JhengHei"/>
              </a:rPr>
              <a:t>AGORA vs 本方案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24128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202C"/>
                </a:solidFill>
                <a:latin typeface="Microsoft JhengHei"/>
              </a:rPr>
              <a:t>跟 Agora 比：租大公司的網路 vs 兩台裝置直接連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274320"/>
            <a:ext cx="82296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7DDE4"/>
                </a:solidFill>
                <a:latin typeface="Microsoft JhengHe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2377440" cy="54864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3774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比較項目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371600"/>
            <a:ext cx="4206240" cy="548640"/>
          </a:xfrm>
          <a:prstGeom prst="rect">
            <a:avLst/>
          </a:prstGeom>
          <a:solidFill>
            <a:srgbClr val="D1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371600"/>
            <a:ext cx="420624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Agora（現況）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371600"/>
            <a:ext cx="4572000" cy="548640"/>
          </a:xfrm>
          <a:prstGeom prst="rect">
            <a:avLst/>
          </a:prstGeom>
          <a:solidFill>
            <a:srgbClr val="14A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371600"/>
            <a:ext cx="45720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本方案（自己直連）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2024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192024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怎麼連線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92024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192024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透過 Agora 全球機房幫忙中轉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192024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4616" y="192024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老師和學生的裝置直接連在一起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6888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246888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網路相容性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468880"/>
            <a:ext cx="420624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08376" y="246888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任何網路都連得上，最穩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2468880"/>
            <a:ext cx="457200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14616" y="246888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多數能直連；少數要靠中繼伺服器繞一下（約 1～3 成）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01752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01752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畫面順不順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01752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08376" y="301752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自動對抗網路不穩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01752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14616" y="301752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掉了就跳過、不卡住重傳，手感一樣順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6616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56616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多人上課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3566160"/>
            <a:ext cx="420624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8376" y="356616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支援一位老師對多位學生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3566160"/>
            <a:ext cx="457200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6" y="356616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目前只做一對一；要多人得另外加伺服器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11480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" y="411480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費用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411480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08376" y="411480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要付費，用越多越貴、沒有上限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1148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14616" y="411480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幾乎不用錢（共用免費額度）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66344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" y="466344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誰來維護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4663440"/>
            <a:ext cx="420624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08376" y="466344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Agora 全包，我們不用管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86600" y="4663440"/>
            <a:ext cx="4572000" cy="548640"/>
          </a:xfrm>
          <a:prstGeom prst="rect">
            <a:avLst/>
          </a:prstGeom>
          <a:solidFill>
            <a:srgbClr val="F7F9FB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14616" y="466344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要自己準備一台幫忙連線的伺服器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212080"/>
            <a:ext cx="2377440" cy="548640"/>
          </a:xfrm>
          <a:prstGeom prst="rect">
            <a:avLst/>
          </a:prstGeom>
          <a:solidFill>
            <a:srgbClr val="E7EBF0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" y="5212080"/>
            <a:ext cx="21579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202C"/>
                </a:solidFill>
                <a:latin typeface="Microsoft JhengHei"/>
              </a:rPr>
              <a:t>對資料庫的負擔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60" y="5212080"/>
            <a:ext cx="4206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08376" y="5212080"/>
            <a:ext cx="398678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跟我們的資料庫無關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521208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14616" y="5212080"/>
            <a:ext cx="4352544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02C"/>
                </a:solidFill>
                <a:latin typeface="Microsoft JhengHei"/>
              </a:rPr>
              <a:t>畫筆不寫進資料庫，只存一張最後的畫面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5943600"/>
            <a:ext cx="11155680" cy="777240"/>
          </a:xfrm>
          <a:prstGeom prst="rect">
            <a:avLst/>
          </a:prstGeom>
          <a:solidFill>
            <a:srgbClr val="FBF1E2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5943600"/>
            <a:ext cx="109728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1403C"/>
                </a:solidFill>
                <a:latin typeface="Microsoft JhengHei"/>
              </a:rPr>
              <a:t>一句話澄清： </a:t>
            </a:r>
            <a:r>
              <a:rPr sz="1250" b="0">
                <a:solidFill>
                  <a:srgbClr val="1A202C"/>
                </a:solidFill>
                <a:latin typeface="Microsoft JhengHei"/>
              </a:rPr>
              <a:t>之前測 10 組同時上課會當掉，是因為「一台電腦同時開了 20 個瀏覽器視窗、記憶體不夠」，不是連線技術有問題。真正上課時每個人用自己的裝置，不會擠在同一台。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