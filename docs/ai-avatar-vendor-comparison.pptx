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6F73"/>
                </a:solidFill>
                <a:latin typeface="IBM Plex Mono"/>
                <a:ea typeface="IBM Plex Mono"/>
              </a:rPr>
              <a:t>TUTOR CORNER · AI 虛擬人教學專區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B2130"/>
                </a:solidFill>
                <a:latin typeface="Noto Serif TC"/>
                <a:ea typeface="Noto Serif TC"/>
              </a:rPr>
              <a:t>AI 虛擬人技術選型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4B5468"/>
                </a:solidFill>
                <a:latin typeface="Noto Sans TC"/>
                <a:ea typeface="Noto Sans TC"/>
              </a:rPr>
              <a:t>Agora ／ Replicate ／ RunPod 三方案比較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B8194"/>
                </a:solidFill>
                <a:latin typeface="IBM Plex Mono"/>
                <a:ea typeface="IBM Plex Mono"/>
              </a:rPr>
              <a:t>技術選型筆記 · 2026-08-23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02920" cy="82296"/>
          </a:xfrm>
          <a:prstGeom prst="roundRect">
            <a:avLst>
              <a:gd name="adj" fmla="val 6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01 · 快速結論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先做這支 1 分鐘廣告，該從哪個平台下手？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520440" cy="82296"/>
          </a:xfrm>
          <a:prstGeom prst="roundRect">
            <a:avLst>
              <a:gd name="adj" fmla="val 6000"/>
            </a:avLst>
          </a:prstGeom>
          <a:solidFill>
            <a:srgbClr val="A8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A8681A"/>
                </a:solidFill>
                <a:latin typeface="Noto Serif TC"/>
                <a:ea typeface="Noto Serif TC"/>
              </a:rPr>
              <a:t>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即時互動語音／視訊代理人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971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B5468"/>
                </a:solidFill>
                <a:latin typeface="Noto Sans TC"/>
                <a:ea typeface="Noto Sans TC"/>
              </a:rPr>
              <a:t>虛擬人臉即時同步說話，適合「學生即時對話的 AI 助教」，不是預錄影片工具。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66360"/>
            <a:ext cx="2971800" cy="438912"/>
          </a:xfrm>
          <a:prstGeom prst="roundRect">
            <a:avLst>
              <a:gd name="adj" fmla="val 6000"/>
            </a:avLst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 i="0">
                <a:solidFill>
                  <a:srgbClr val="A23D37"/>
                </a:solidFill>
                <a:latin typeface="IBM Plex Mono"/>
                <a:ea typeface="IBM Plex Mono"/>
              </a:rPr>
              <a:t>✕ 不適合這次廣告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20440" cy="82296"/>
          </a:xfrm>
          <a:prstGeom prst="roundRect">
            <a:avLst>
              <a:gd name="adj" fmla="val 6000"/>
            </a:avLst>
          </a:prstGeom>
          <a:solidFill>
            <a:srgbClr val="624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6249BE"/>
                </a:solidFill>
                <a:latin typeface="Noto Serif TC"/>
                <a:ea typeface="Noto Serif TC"/>
              </a:rPr>
              <a:t>Replicate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託管式模型 API 市集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2971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B5468"/>
                </a:solidFill>
                <a:latin typeface="Noto Sans TC"/>
                <a:ea typeface="Noto Sans TC"/>
              </a:rPr>
              <a:t>呼叫現成模型把「腳本＋照片」轉成一支影片，
不用管伺服器，最快能出成品。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166360"/>
            <a:ext cx="2971800" cy="438912"/>
          </a:xfrm>
          <a:prstGeom prst="roundRect">
            <a:avLst>
              <a:gd name="adj" fmla="val 6000"/>
            </a:avLst>
          </a:prstGeom>
          <a:solidFill>
            <a:srgbClr val="E1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 i="0">
                <a:solidFill>
                  <a:srgbClr val="276B47"/>
                </a:solidFill>
                <a:latin typeface="IBM Plex Mono"/>
                <a:ea typeface="IBM Plex Mono"/>
              </a:rPr>
              <a:t>✓ 建議先用這個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1554480"/>
            <a:ext cx="3520440" cy="82296"/>
          </a:xfrm>
          <a:prstGeom prst="roundRect">
            <a:avLst>
              <a:gd name="adj" fmla="val 6000"/>
            </a:avLst>
          </a:prstGeom>
          <a:solidFill>
            <a:srgbClr val="AE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8745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AE4B2B"/>
                </a:solidFill>
                <a:latin typeface="Noto Serif TC"/>
                <a:ea typeface="Noto Serif TC"/>
              </a:rPr>
              <a:t>RunPod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231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純 GPU 雲端租賃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71800"/>
            <a:ext cx="2971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B5468"/>
                </a:solidFill>
                <a:latin typeface="Noto Sans TC"/>
                <a:ea typeface="Noto Sans TC"/>
              </a:rPr>
              <a:t>自己包模型、自己顧環境，單次算力最便宜，
但要先扛下整套 DevOps 工作。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5166360"/>
            <a:ext cx="2971800" cy="438912"/>
          </a:xfrm>
          <a:prstGeom prst="roundRect">
            <a:avLst>
              <a:gd name="adj" fmla="val 6000"/>
            </a:avLst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 i="0">
                <a:solidFill>
                  <a:srgbClr val="A23D37"/>
                </a:solidFill>
                <a:latin typeface="IBM Plex Mono"/>
                <a:ea typeface="IBM Plex Mono"/>
              </a:rPr>
              <a:t>✕ 現階段先不用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02 · 完整比較表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八個面向，一次看懂三個平台的差異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831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108960"/>
                <a:gridCol w="2871216"/>
                <a:gridCol w="2871216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面向</a:t>
                      </a:r>
                    </a:p>
                  </a:txBody>
                  <a:tcPr marL="109728" marR="109728" marT="54864" marB="54864" anchor="ctr">
                    <a:solidFill>
                      <a:srgbClr val="1F6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Agora</a:t>
                      </a:r>
                    </a:p>
                  </a:txBody>
                  <a:tcPr marL="109728" marR="109728" marT="54864" marB="54864" anchor="ctr">
                    <a:solidFill>
                      <a:srgbClr val="A868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Replicate</a:t>
                      </a:r>
                    </a:p>
                  </a:txBody>
                  <a:tcPr marL="109728" marR="109728" marT="54864" marB="54864" anchor="ctr">
                    <a:solidFill>
                      <a:srgbClr val="6249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RunPod</a:t>
                      </a:r>
                    </a:p>
                  </a:txBody>
                  <a:tcPr marL="109728" marR="109728" marT="54864" marB="54864" anchor="ctr">
                    <a:solidFill>
                      <a:srgbClr val="AE4B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定位／最佳情境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即時互動代理人＋虛擬人臉同步，適合即時對話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託管式模型 API，適合單次／少量成品影片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純 GPU 租賃，適合長期大量生產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用在「1分鐘廣告」的難度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不適用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低～中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要自架伺服器／容器？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否，但要串 4-5 個第三方帳號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否，純 API 呼叫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是，Docker image＋GPU 環境全自己顧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需串接的外部服務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Agora＋LLM＋STT＋TTS＋Avatar，共 4-5 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TTS＋口型同步模型，共 2-3 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RunPod ＋ 自選模型全部自己包成容器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執行模式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即時串流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非同步批次（輪詢/webhook）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依部署方式，冷啟動要自己處理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首版預估開發時間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3–5 天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半天～1 天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3–7 天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成本結構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$0.10/分鐘＋RTC＋Avatar，三筆疊加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TTS按字數、口型同步跑L40S按秒計費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GPU約$0.69/hr，但人力是隱藏成本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這次 pilot 適合嗎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不適合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適合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不建議現階段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03 · 串接清單 — Replicate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建議先做這個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984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7 個步驟 · 半天～1天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申請 API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取得 REPLICATE_API_TOKEN，存進 .env.local 或 Amplify 環境變數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選配音（TTS）模型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minimax/speech-02-turbo，官方模型不佔GPU，按字數計費 $0.06/千字元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選虛擬人臉／口型同步模型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lucataco/sadtalker，固定跑 Nvidia L40S GPU，按秒計費約$0.13/次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4223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處理非同步任務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Prediction 是非同步的，要輪詢狀態或設定 webhook callback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（可選）後製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用 ffmpeg 燒字幕、配樂、加片頭尾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成品儲存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接既有 @aws-sdk/client-s3（專案已有）存放產出影片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6249BE"/>
                </a:solidFill>
                <a:latin typeface="IBM Plex Mono"/>
                <a:ea typeface="IBM Plex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簡易觸發介面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小工具或 script 觸發生成、下載成品，不用放進正式 nav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3036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249BE"/>
                </a:solidFill>
                <a:latin typeface="Noto Sans TC"/>
                <a:ea typeface="Noto Sans TC"/>
              </a:rPr>
              <a:t>關於 GPU：Replicate 不像 RunPod 能自己選 GPU 型號——GPU 是模型作者固定好的，你只能選「用哪個模型」。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468"/>
                </a:solidFill>
                <a:latin typeface="Noto Sans TC"/>
                <a:ea typeface="Noto Sans TC"/>
              </a:rPr>
              <a:t>上面兩個模型：TTS 不佔 GPU（按字數計費）；口型同步固定跑在 Nvidia L40S（按秒計費）。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03 · 口型同步模型選項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想要更擬真？Replicate 上的三個等級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831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743200"/>
                <a:gridCol w="2560320"/>
                <a:gridCol w="3273552"/>
              </a:tblGrid>
              <a:tr h="994409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模型</a:t>
                      </a:r>
                    </a:p>
                  </a:txBody>
                  <a:tcPr marL="109728" marR="109728" marT="54864" marB="54864" anchor="ctr">
                    <a:solidFill>
                      <a:srgbClr val="6249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真實感</a:t>
                      </a:r>
                    </a:p>
                  </a:txBody>
                  <a:tcPr marL="109728" marR="109728" marT="54864" marB="54864" anchor="ctr">
                    <a:solidFill>
                      <a:srgbClr val="6249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費用</a:t>
                      </a:r>
                    </a:p>
                  </a:txBody>
                  <a:tcPr marL="109728" marR="109728" marT="54864" marB="54864" anchor="ctr">
                    <a:solidFill>
                      <a:srgbClr val="6249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BM Plex Mono"/>
                          <a:ea typeface="IBM Plex Mono"/>
                        </a:rPr>
                        <a:t>備註</a:t>
                      </a:r>
                    </a:p>
                  </a:txBody>
                  <a:tcPr marL="109728" marR="109728" marT="54864" marB="54864" anchor="ctr">
                    <a:solidFill>
                      <a:srgbClr val="6249BE"/>
                    </a:solidFill>
                  </a:tcPr>
                </a:tc>
              </a:tr>
              <a:tr h="99440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lucataco/sadtalker</a:t>
                      </a:r>
                    </a:p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（目前用的）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中等，動作偏生硬、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看得出是生成的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約 $0.13/次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便宜，適合先跑通流程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994409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bytedance/omni-human</a:t>
                      </a:r>
                    </a:p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（OmniHuman）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高，表情／頭部／肢體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會跟著語氣自然變化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$0.14/秒輸出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60秒約 $8.4/次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官方建議單段音檔 ≤15秒，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超過（含我們的60秒）可能會 degrade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</a:tr>
              <a:tr h="9944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kwaivgi/kling-avatar-v2</a:t>
                      </a:r>
                    </a:p>
                    <a:p>
                      <a:r>
                        <a:rPr sz="1100" b="1" i="0">
                          <a:solidFill>
                            <a:srgbClr val="1B2130"/>
                          </a:solidFill>
                          <a:latin typeface="Noto Sans TC"/>
                          <a:ea typeface="Noto Sans TC"/>
                        </a:rPr>
                        <a:t>（Kling Avatar v2）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高，直接吃音檔（含語氣、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停頓），對嘴精準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約 $0.3–0.6/次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（第三方報價，Replicate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官方價格請再核對）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官方稱可處理數分鐘長度，</a:t>
                      </a:r>
                    </a:p>
                    <a:p>
                      <a:r>
                        <a:rPr sz="1100" b="0" i="0">
                          <a:solidFill>
                            <a:srgbClr val="4B5468"/>
                          </a:solidFill>
                          <a:latin typeface="Noto Sans TC"/>
                          <a:ea typeface="Noto Sans TC"/>
                        </a:rPr>
                        <a:t>較適合我們60秒一鏡到底</a:t>
                      </a:r>
                    </a:p>
                  </a:txBody>
                  <a:tcPr marL="109728" marR="109728" marT="54864" marB="54864" anchor="ctr">
                    <a:solidFill>
                      <a:srgbClr val="ECE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6000"/>
            </a:avLst>
          </a:prstGeom>
          <a:solidFill>
            <a:srgbClr val="E4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6F73"/>
                </a:solidFill>
                <a:latin typeface="Noto Sans TC"/>
                <a:ea typeface="Noto Sans TC"/>
              </a:rPr>
              <a:t>單鏡到底 60 秒 → Kling Avatar v2 較穩妥；先試短版 15 秒 → OmniHuman 真實感也很頂尖。兩者都比 SadTalker 貴很多（$0.13 → $8+），試作預算大概只夠 3–5 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03 · 串接清單 —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之後做「即時虛擬助教」再評估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984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8 個步驟 · 3–5天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沿用既有基礎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已裝 agora-rtc-sdk-ng／agora-access-token，token 簽發邏輯可重用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建立 Conversational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在 Agora Console／REST API 設定 agent，指定 LLM/STT/TTS/Avatar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申請 Avatar Provider 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如 Akool、Simli 等 Agora 整合商，各自要申請 API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4223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串接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接上對話模型（如 Anthropic API），設定 system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設定 STT／TTS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可用 Agora 內建或自選第三方語音服務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教室內的邀請流程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加入「邀請虛擬助教加入頻道」的 UI 與流程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處理生命週期 Webhook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接收 agent 開始／結束／錯誤等事件通知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4223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8681A"/>
                </a:solidFill>
                <a:latin typeface="IBM Plex Mono"/>
                <a:ea typeface="IBM Plex Mono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1480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拆帳單監控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對話分鐘費、RTC 頻道費、Avatar provider 費，三個帳單來源分開追蹤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03 · 串接清單 — RunPod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規模化生產階段才需要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984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B8194"/>
                </a:solidFill>
                <a:latin typeface="IBM Plex Mono"/>
                <a:ea typeface="IBM Plex Mono"/>
              </a:rPr>
              <a:t>9 個步驟 · 3–7天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申請 API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建立 RunPod 帳號與 API 金鑰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打包 Docker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Python＋PyTorch/CUDA＋開源模型＋所有相依套件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部署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選 Serverless 或 Pod，挑 GPU 型號，設 idle timeout 避免燒錢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4223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1480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管理模型權重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用 Network Volume 快取權重，否則冷啟動要重新下載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28616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0118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自行處理 TTS 環節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8464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同容器內跑開源 TTS，或呼叫外部 TTS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556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寫 API wrapper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391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自己實作提交 job → 輪詢或 webhook 拿結果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56946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420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錯誤重試與監控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254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只有基本 dashboard，timeout／重試／告警要自己刻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3558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328416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成品儲存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118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一樣要接 S3 存放輸出影片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14223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E4B2B"/>
                </a:solidFill>
                <a:latin typeface="IBM Plex Mono"/>
                <a:ea typeface="IBM Plex Mono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1480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B2130"/>
                </a:solidFill>
                <a:latin typeface="Noto Sans TC"/>
                <a:ea typeface="Noto Sans TC"/>
              </a:rPr>
              <a:t>長期維護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B5468"/>
                </a:solidFill>
                <a:latin typeface="Noto Sans TC"/>
                <a:ea typeface="Noto Sans TC"/>
              </a:rPr>
              <a:t>模型更新、CUDA 相依性 debug、GPU 缺貨排隊風險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6F73"/>
                </a:solidFill>
                <a:latin typeface="IBM Plex Mono"/>
                <a:ea typeface="IBM Plex Mono"/>
              </a:rPr>
              <a:t>04 · 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2130"/>
                </a:solidFill>
                <a:latin typeface="Noto Serif TC"/>
                <a:ea typeface="Noto Serif TC"/>
              </a:rPr>
              <a:t>分階段投入，先驗證再擴大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34440"/>
            <a:ext cx="11183112" cy="0"/>
          </a:xfrm>
          <a:prstGeom prst="line">
            <a:avLst/>
          </a:prstGeom>
          <a:ln w="12700">
            <a:solidFill>
              <a:srgbClr val="DB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60020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E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82296" cy="1417320"/>
          </a:xfrm>
          <a:prstGeom prst="roundRect">
            <a:avLst>
              <a:gd name="adj" fmla="val 6000"/>
            </a:avLst>
          </a:prstGeom>
          <a:solidFill>
            <a:srgbClr val="624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249BE"/>
                </a:solidFill>
                <a:latin typeface="Noto Serif TC"/>
                <a:ea typeface="Noto Serif TC"/>
              </a:rPr>
              <a:t>現在（試作1分鐘廣告）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468"/>
                </a:solidFill>
                <a:latin typeface="Noto Sans TC"/>
                <a:ea typeface="Noto Sans TC"/>
              </a:rPr>
              <a:t>用 Replicate。免架設、半天到一天能出第一版，抓 US$20–40 試作預算即可評估。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7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273552"/>
            <a:ext cx="82296" cy="1417320"/>
          </a:xfrm>
          <a:prstGeom prst="roundRect">
            <a:avLst>
              <a:gd name="adj" fmla="val 6000"/>
            </a:avLst>
          </a:prstGeom>
          <a:solidFill>
            <a:srgbClr val="A86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56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8681A"/>
                </a:solidFill>
                <a:latin typeface="Noto Serif TC"/>
                <a:ea typeface="Noto Serif TC"/>
              </a:rPr>
              <a:t>如果廣告成效不錯，想做「即時互動虛擬助教」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95344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468"/>
                </a:solidFill>
                <a:latin typeface="Noto Sans TC"/>
                <a:ea typeface="Noto Sans TC"/>
              </a:rPr>
              <a:t>評估 Agora，因為 RTC 基礎建設專案裡已經有了，能省掉重新接一套即時串流的工程量。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46904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8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946904"/>
            <a:ext cx="82296" cy="1417320"/>
          </a:xfrm>
          <a:prstGeom prst="roundRect">
            <a:avLst>
              <a:gd name="adj" fmla="val 6000"/>
            </a:avLst>
          </a:prstGeom>
          <a:solidFill>
            <a:srgbClr val="AE4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E4B2B"/>
                </a:solidFill>
                <a:latin typeface="Noto Serif TC"/>
                <a:ea typeface="Noto Serif TC"/>
              </a:rPr>
              <a:t>RunPod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68696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468"/>
                </a:solidFill>
                <a:latin typeface="Noto Sans TC"/>
                <a:ea typeface="Noto Sans TC"/>
              </a:rPr>
              <a:t>先不用。只有在確定要規模化生產、影片產量大到能攤提 DevOps 人力成本時才重新評估。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Tutor Corner · AI 虛擬人教學專區 · 技術選型筆記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7B8194"/>
                </a:solidFill>
                <a:latin typeface="IBM Plex Mono"/>
                <a:ea typeface="IBM Plex Mon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