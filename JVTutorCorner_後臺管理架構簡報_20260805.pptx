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F6B"/>
                </a:solidFill>
                <a:latin typeface="Microsoft JhengHei"/>
                <a:ea typeface="Microsoft JhengHei"/>
              </a:rPr>
              <a:t>ADMIN PORTAL · 架構簡報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1B2430"/>
                </a:solidFill>
                <a:latin typeface="Microsoft JhengHei"/>
                <a:ea typeface="Microsoft JhengHei"/>
              </a:rPr>
              <a:t>後臺管理（/admin/**）</a:t>
            </a:r>
          </a:p>
          <a:p>
            <a:pPr algn="l">
              <a:lnSpc>
                <a:spcPct val="108000"/>
              </a:lnSpc>
            </a:pPr>
            <a:r>
              <a:rPr sz="4000" b="1">
                <a:solidFill>
                  <a:srgbClr val="1B2430"/>
                </a:solidFill>
                <a:latin typeface="Microsoft JhengHei"/>
                <a:ea typeface="Microsoft JhengHei"/>
              </a:rPr>
              <a:t>架構總覽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8636F"/>
                </a:solidFill>
                <a:latin typeface="Microsoft JhengHei"/>
                <a:ea typeface="Microsoft JhengHei"/>
              </a:rPr>
              <a:t>核心業務頁面版 — 距校存取控制流程與權限矩陣，收錄財務、審核、組織、角色、分析五組實際畫面。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B45309"/>
                </a:solidFill>
                <a:latin typeface="Microsoft JhengHei"/>
                <a:ea typeface="Microsoft JhengHei"/>
              </a:rPr>
              <a:t>已排除：設定、工具、舊版三組內部工具頁面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23774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1F4D4A"/>
                </a:solidFill>
                <a:latin typeface="Microsoft JhengHei"/>
                <a:ea typeface="Microsoft JhengHei"/>
              </a:rPr>
              <a:t>8</a:t>
            </a:r>
          </a:p>
          <a:p>
            <a:pPr algn="ctr"/>
            <a:r>
              <a:rPr sz="1100" b="0">
                <a:solidFill>
                  <a:srgbClr val="58636F"/>
                </a:solidFill>
                <a:latin typeface="Microsoft JhengHei"/>
                <a:ea typeface="Microsoft JhengHei"/>
              </a:rPr>
              <a:t>頁面全數截圖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5257800"/>
            <a:ext cx="23774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1F4D4A"/>
                </a:solidFill>
                <a:latin typeface="Microsoft JhengHei"/>
                <a:ea typeface="Microsoft JhengHei"/>
              </a:rPr>
              <a:t>5</a:t>
            </a:r>
          </a:p>
          <a:p>
            <a:pPr algn="ctr"/>
            <a:r>
              <a:rPr sz="1100" b="0">
                <a:solidFill>
                  <a:srgbClr val="58636F"/>
                </a:solidFill>
                <a:latin typeface="Microsoft JhengHei"/>
                <a:ea typeface="Microsoft JhengHei"/>
              </a:rPr>
              <a:t>邏輯分組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5257800"/>
            <a:ext cx="23774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1F4D4A"/>
                </a:solidFill>
                <a:latin typeface="Microsoft JhengHei"/>
                <a:ea typeface="Microsoft JhengHei"/>
              </a:rPr>
              <a:t>3</a:t>
            </a:r>
          </a:p>
          <a:p>
            <a:pPr algn="ctr"/>
            <a:r>
              <a:rPr sz="1100" b="0">
                <a:solidFill>
                  <a:srgbClr val="58636F"/>
                </a:solidFill>
                <a:latin typeface="Microsoft JhengHei"/>
                <a:ea typeface="Microsoft JhengHei"/>
              </a:rPr>
              <a:t>層存取檢查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6F6B"/>
                </a:solidFill>
                <a:latin typeface="Microsoft JhengHei"/>
                <a:ea typeface="Microsoft JhengHei"/>
              </a:rPr>
              <a:t>01 · 全貌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430"/>
                </a:solidFill>
                <a:latin typeface="Microsoft JhengHei"/>
                <a:ea typeface="Microsoft JhengHei"/>
              </a:rPr>
              <a:t>後台由三層拼起來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8636F"/>
                </a:solidFill>
                <a:latin typeface="Microsoft JhengHei"/>
                <a:ea typeface="Microsoft JhengHei"/>
              </a:rPr>
              <a:t>路由層決定「有哪些頁面」，權限層決定「誰看得到」，設定層決定「這些規則怎麼被調整」。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1F4D4A"/>
                </a:solidFill>
                <a:latin typeface="Microsoft JhengHei"/>
                <a:ea typeface="Microsoft JhengHei"/>
              </a:rPr>
              <a:t>app/admin/**</a:t>
            </a:r>
          </a:p>
          <a:p>
            <a:pPr algn="ctr"/>
            <a:r>
              <a:rPr sz="1050" b="0">
                <a:solidFill>
                  <a:srgbClr val="58636F"/>
                </a:solidFill>
                <a:latin typeface="Microsoft JhengHei"/>
                <a:ea typeface="Microsoft JhengHei"/>
              </a:rPr>
              <a:t>路由層 — 22 個 page.tsx，本簡報展示其中 8 個核心頁面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6596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1F4D4A"/>
                </a:solidFill>
                <a:latin typeface="Microsoft JhengHei"/>
                <a:ea typeface="Microsoft JhengHei"/>
              </a:rPr>
              <a:t>AdminLayout</a:t>
            </a:r>
          </a:p>
          <a:p>
            <a:pPr algn="ctr"/>
            <a:r>
              <a:rPr sz="1050" b="0">
                <a:solidFill>
                  <a:srgbClr val="58636F"/>
                </a:solidFill>
                <a:latin typeface="Microsoft JhengHei"/>
                <a:ea typeface="Microsoft JhengHei"/>
              </a:rPr>
              <a:t>權限層 — session→role→page 三段式閘門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196596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1F4D4A"/>
                </a:solidFill>
                <a:latin typeface="Microsoft JhengHei"/>
                <a:ea typeface="Microsoft JhengHei"/>
              </a:rPr>
              <a:t>lib/auth/pagePermissions.ts</a:t>
            </a:r>
          </a:p>
          <a:p>
            <a:pPr algn="ctr"/>
            <a:r>
              <a:rPr sz="1050" b="0">
                <a:solidFill>
                  <a:srgbClr val="58636F"/>
                </a:solidFill>
                <a:latin typeface="Microsoft JhengHei"/>
                <a:ea typeface="Microsoft JhengHei"/>
              </a:rPr>
              <a:t>預設矩陣 + DynamoDB 覆寫，決定路徑可見性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B2430"/>
                </a:solidFill>
                <a:latin typeface="Microsoft JhengHei"/>
                <a:ea typeface="Microsoft JhengHei"/>
              </a:rPr>
              <a:t>apiGuard scope:'orgUnit'</a:t>
            </a:r>
          </a:p>
          <a:p>
            <a:pPr algn="ctr"/>
            <a:r>
              <a:rPr sz="1100" b="0">
                <a:solidFill>
                  <a:srgbClr val="58636F"/>
                </a:solidFill>
                <a:latin typeface="Microsoft JhengHei"/>
                <a:ea typeface="Microsoft JhengHei"/>
              </a:rPr>
              <a:t>真正的資料隴離發生在 API 層：頁面層只決定「看得到這個頁面嗎」，實際能拉到哪些資料共同由這層強制（例： dept_admin 僅限本部門）。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6F6B"/>
                </a:solidFill>
                <a:latin typeface="Microsoft JhengHei"/>
                <a:ea typeface="Microsoft JhengHei"/>
              </a:rPr>
              <a:t>02 · 存取控制流程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430"/>
                </a:solidFill>
                <a:latin typeface="Microsoft JhengHei"/>
                <a:ea typeface="Microsoft JhengHei"/>
              </a:rPr>
              <a:t>進入任何 /admin/* 頁面前的三段檢查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8288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B2430"/>
                </a:solidFill>
                <a:latin typeface="Microsoft JhengHei"/>
                <a:ea typeface="Microsoft JhengHei"/>
              </a:rPr>
              <a:t>瀏覽器</a:t>
            </a:r>
          </a:p>
          <a:p>
            <a:pPr algn="ctr"/>
            <a:r>
              <a:rPr sz="950" b="0">
                <a:solidFill>
                  <a:srgbClr val="58636F"/>
                </a:solidFill>
                <a:latin typeface="Microsoft JhengHei"/>
                <a:ea typeface="Microsoft JhengHei"/>
              </a:rPr>
              <a:t>GET /admin/*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554480"/>
            <a:ext cx="23774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B2430"/>
                </a:solidFill>
                <a:latin typeface="Microsoft JhengHei"/>
                <a:ea typeface="Microsoft JhengHei"/>
              </a:rPr>
              <a:t>① Session 驗證</a:t>
            </a:r>
          </a:p>
          <a:p>
            <a:pPr algn="ctr"/>
            <a:r>
              <a:rPr sz="950" b="0">
                <a:solidFill>
                  <a:srgbClr val="58636F"/>
                </a:solidFill>
                <a:latin typeface="Microsoft JhengHei"/>
                <a:ea typeface="Microsoft JhengHei"/>
              </a:rPr>
              <a:t>cookie + HMAC</a:t>
            </a:r>
          </a:p>
          <a:p>
            <a:pPr algn="ctr"/>
            <a:r>
              <a:rPr sz="950" b="0">
                <a:solidFill>
                  <a:srgbClr val="58636F"/>
                </a:solidFill>
                <a:latin typeface="Microsoft JhengHei"/>
                <a:ea typeface="Microsoft JhengHei"/>
              </a:rPr>
              <a:t>+ DynamoDB 查表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96312" y="183337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8636F"/>
                </a:solidFill>
                <a:latin typeface="Microsoft JhengHei"/>
                <a:ea typeface="Microsoft JhengHe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554480"/>
            <a:ext cx="23774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B2430"/>
                </a:solidFill>
                <a:latin typeface="Microsoft JhengHei"/>
                <a:ea typeface="Microsoft JhengHei"/>
              </a:rPr>
              <a:t>② 角色白名單</a:t>
            </a:r>
          </a:p>
          <a:p>
            <a:pPr algn="ctr"/>
            <a:r>
              <a:rPr sz="950" b="0">
                <a:solidFill>
                  <a:srgbClr val="58636F"/>
                </a:solidFill>
                <a:latin typeface="Microsoft JhengHei"/>
                <a:ea typeface="Microsoft JhengHei"/>
              </a:rPr>
              <a:t>admin / dept_admin /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93792" y="183337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8636F"/>
                </a:solidFill>
                <a:latin typeface="Microsoft JhengHei"/>
                <a:ea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55448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D9ECE9"/>
          </a:solidFill>
          <a:ln w="9525">
            <a:solidFill>
              <a:srgbClr val="2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4D4A"/>
                </a:solidFill>
                <a:latin typeface="Microsoft JhengHei"/>
                <a:ea typeface="Microsoft JhengHei"/>
              </a:rPr>
              <a:t>③ 頁面權限矩陣</a:t>
            </a:r>
          </a:p>
          <a:p>
            <a:pPr algn="ctr"/>
            <a:r>
              <a:rPr sz="950" b="0">
                <a:solidFill>
                  <a:srgbClr val="58636F"/>
                </a:solidFill>
                <a:latin typeface="Microsoft JhengHei"/>
                <a:ea typeface="Microsoft JhengHei"/>
              </a:rPr>
              <a:t>canAccessPage(role, path)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1" y="183337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8636F"/>
                </a:solidFill>
                <a:latin typeface="Microsoft JhengHei"/>
                <a:ea typeface="Microsoft Jheng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017520"/>
            <a:ext cx="6309360" cy="548640"/>
          </a:xfrm>
          <a:prstGeom prst="roundRect">
            <a:avLst>
              <a:gd name="adj" fmla="val 6000"/>
            </a:avLst>
          </a:prstGeom>
          <a:solidFill>
            <a:srgbClr val="FBE8D2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B45309"/>
                </a:solidFill>
                <a:latin typeface="Microsoft JhengHei"/>
                <a:ea typeface="Microsoft JhengHei"/>
              </a:rPr>
              <a:t>任一段不通過 → 導回 /login（無 session）或 /dashboard?forbidden=1（角色不符 / 頁面不允許）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77639" y="2514600"/>
            <a:ext cx="0" cy="502920"/>
          </a:xfrm>
          <a:prstGeom prst="line">
            <a:avLst/>
          </a:prstGeom>
          <a:ln w="12700">
            <a:solidFill>
              <a:srgbClr val="58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75120" y="2514600"/>
            <a:ext cx="0" cy="502920"/>
          </a:xfrm>
          <a:prstGeom prst="line">
            <a:avLst/>
          </a:prstGeom>
          <a:ln w="12700">
            <a:solidFill>
              <a:srgbClr val="58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09759" y="2514600"/>
            <a:ext cx="0" cy="502920"/>
          </a:xfrm>
          <a:prstGeom prst="line">
            <a:avLst/>
          </a:prstGeom>
          <a:ln w="12700">
            <a:solidFill>
              <a:srgbClr val="58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83879" y="3886200"/>
            <a:ext cx="2651760" cy="777240"/>
          </a:xfrm>
          <a:prstGeom prst="roundRect">
            <a:avLst>
              <a:gd name="adj" fmla="val 6000"/>
            </a:avLst>
          </a:prstGeom>
          <a:solidFill>
            <a:srgbClr val="D9ECE9"/>
          </a:solidFill>
          <a:ln w="9525">
            <a:solidFill>
              <a:srgbClr val="2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4D4A"/>
                </a:solidFill>
                <a:latin typeface="Microsoft JhengHei"/>
                <a:ea typeface="Microsoft JhengHei"/>
              </a:rPr>
              <a:t>④ 渲染頁面內容</a:t>
            </a:r>
          </a:p>
          <a:p>
            <a:pPr algn="ctr"/>
            <a:r>
              <a:rPr sz="1000" b="0">
                <a:solidFill>
                  <a:srgbClr val="58636F"/>
                </a:solidFill>
                <a:latin typeface="Microsoft JhengHei"/>
                <a:ea typeface="Microsoft JhengHei"/>
              </a:rPr>
              <a:t>再由 API 層 apiGuard 做資料隴離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09759" y="2514600"/>
            <a:ext cx="0" cy="1371600"/>
          </a:xfrm>
          <a:prstGeom prst="line">
            <a:avLst/>
          </a:prstGeom>
          <a:ln w="19050">
            <a:solidFill>
              <a:srgbClr val="2F6F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646919" y="25603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4D4A"/>
                </a:solidFill>
                <a:latin typeface="Microsoft JhengHei"/>
                <a:ea typeface="Microsoft JhengHei"/>
              </a:rPr>
              <a:t>全數通過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379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8636F"/>
                </a:solidFill>
                <a:latin typeface="Microsoft JhengHei"/>
                <a:ea typeface="Microsoft JhengHei"/>
              </a:rPr>
              <a:t>來源：app/admin/layout.tsx — 三段檢查依序執行，任一段失敗即不進入下一段。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6F6B"/>
                </a:solidFill>
                <a:latin typeface="Microsoft JhengHei"/>
                <a:ea typeface="Microsoft JhengHei"/>
              </a:rPr>
              <a:t>03 · 路由地圖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430"/>
                </a:solidFill>
                <a:latin typeface="Microsoft JhengHei"/>
                <a:ea typeface="Microsoft JhengHei"/>
              </a:rPr>
              <a:t>財務 finance（3 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8636F"/>
                </a:solidFill>
                <a:latin typeface="Microsoft JhengHei"/>
                <a:ea typeface="Microsoft JhengHei"/>
              </a:rPr>
              <a:t>以 admin 帳號實際登入後截圖，畫面為測試種子資料，非正式營運數據。</a:t>
            </a:r>
          </a:p>
        </p:txBody>
      </p:sp>
      <p:pic>
        <p:nvPicPr>
          <p:cNvPr id="5" name="Picture 4" descr="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3423818" cy="192589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2103120"/>
            <a:ext cx="3423818" cy="1925897"/>
          </a:xfrm>
          <a:prstGeom prst="rect">
            <a:avLst/>
          </a:prstGeom>
          <a:noFill/>
          <a:ln w="12700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083881"/>
            <a:ext cx="34238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8636F"/>
                </a:solidFill>
                <a:latin typeface="Consolas"/>
                <a:ea typeface="Consolas"/>
              </a:rPr>
              <a:t>/admin/orders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03337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2430"/>
                </a:solidFill>
                <a:latin typeface="Microsoft JhengHei"/>
                <a:ea typeface="Microsoft JhengHei"/>
              </a:rPr>
              <a:t>訂單管理列表</a:t>
            </a:r>
          </a:p>
        </p:txBody>
      </p:sp>
      <p:pic>
        <p:nvPicPr>
          <p:cNvPr id="9" name="Picture 8" descr="pay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938" y="2103120"/>
            <a:ext cx="3423818" cy="192589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383938" y="2103120"/>
            <a:ext cx="3423818" cy="1925897"/>
          </a:xfrm>
          <a:prstGeom prst="rect">
            <a:avLst/>
          </a:prstGeom>
          <a:noFill/>
          <a:ln w="12700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4083881"/>
            <a:ext cx="34238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8636F"/>
                </a:solidFill>
                <a:latin typeface="Consolas"/>
                <a:ea typeface="Consolas"/>
              </a:rPr>
              <a:t>/admin/payments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3938" y="4303337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2430"/>
                </a:solidFill>
                <a:latin typeface="Microsoft JhengHei"/>
                <a:ea typeface="Microsoft JhengHei"/>
              </a:rPr>
              <a:t>收款管理</a:t>
            </a:r>
          </a:p>
        </p:txBody>
      </p:sp>
      <p:pic>
        <p:nvPicPr>
          <p:cNvPr id="13" name="Picture 12" descr="refu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2103120"/>
            <a:ext cx="3423818" cy="192589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127796" y="2103120"/>
            <a:ext cx="3423818" cy="1925897"/>
          </a:xfrm>
          <a:prstGeom prst="rect">
            <a:avLst/>
          </a:prstGeom>
          <a:noFill/>
          <a:ln w="12700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7796" y="4083881"/>
            <a:ext cx="34238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8636F"/>
                </a:solidFill>
                <a:latin typeface="Consolas"/>
                <a:ea typeface="Consolas"/>
              </a:rPr>
              <a:t>/admin/refunds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6" y="4303337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2430"/>
                </a:solidFill>
                <a:latin typeface="Microsoft JhengHei"/>
                <a:ea typeface="Microsoft JhengHei"/>
              </a:rPr>
              <a:t>退款申請處理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6F6B"/>
                </a:solidFill>
                <a:latin typeface="Microsoft JhengHei"/>
                <a:ea typeface="Microsoft JhengHei"/>
              </a:rPr>
              <a:t>03 · 路由地圖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430"/>
                </a:solidFill>
                <a:latin typeface="Microsoft JhengHei"/>
                <a:ea typeface="Microsoft JhengHei"/>
              </a:rPr>
              <a:t>審核 reviews（2 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8636F"/>
                </a:solidFill>
                <a:latin typeface="Microsoft JhengHei"/>
                <a:ea typeface="Microsoft JhengHei"/>
              </a:rPr>
              <a:t>老師資料變更審核與課程上架審核兩條人工核准流程。</a:t>
            </a:r>
          </a:p>
        </p:txBody>
      </p:sp>
      <p:pic>
        <p:nvPicPr>
          <p:cNvPr id="5" name="Picture 4" descr="teacher-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5227167" cy="29402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2103120"/>
            <a:ext cx="5227167" cy="2940281"/>
          </a:xfrm>
          <a:prstGeom prst="rect">
            <a:avLst/>
          </a:prstGeom>
          <a:noFill/>
          <a:ln w="12700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098265"/>
            <a:ext cx="52271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8636F"/>
                </a:solidFill>
                <a:latin typeface="Consolas"/>
                <a:ea typeface="Consolas"/>
              </a:rPr>
              <a:t>/admin/teacher-reviews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17721"/>
            <a:ext cx="52271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2430"/>
                </a:solidFill>
                <a:latin typeface="Microsoft JhengHei"/>
                <a:ea typeface="Microsoft JhengHei"/>
              </a:rPr>
              <a:t>老師審核</a:t>
            </a:r>
          </a:p>
        </p:txBody>
      </p:sp>
      <p:pic>
        <p:nvPicPr>
          <p:cNvPr id="9" name="Picture 8" descr="course-revie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2103120"/>
            <a:ext cx="5227167" cy="294028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87287" y="2103120"/>
            <a:ext cx="5227167" cy="2940281"/>
          </a:xfrm>
          <a:prstGeom prst="rect">
            <a:avLst/>
          </a:prstGeom>
          <a:noFill/>
          <a:ln w="12700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7287" y="5098265"/>
            <a:ext cx="52271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8636F"/>
                </a:solidFill>
                <a:latin typeface="Consolas"/>
                <a:ea typeface="Consolas"/>
              </a:rPr>
              <a:t>/admin/course-reviews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7287" y="5317721"/>
            <a:ext cx="52271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2430"/>
                </a:solidFill>
                <a:latin typeface="Microsoft JhengHei"/>
                <a:ea typeface="Microsoft JhengHei"/>
              </a:rPr>
              <a:t>課程審核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6F6B"/>
                </a:solidFill>
                <a:latin typeface="Microsoft JhengHei"/>
                <a:ea typeface="Microsoft JhengHei"/>
              </a:rPr>
              <a:t>03 · 路由地圖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430"/>
                </a:solidFill>
                <a:latin typeface="Microsoft JhengHei"/>
                <a:ea typeface="Microsoft JhengHei"/>
              </a:rPr>
              <a:t>組織·角色·分析（3 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8636F"/>
                </a:solidFill>
                <a:latin typeface="Microsoft JhengHei"/>
                <a:ea typeface="Microsoft JhengHei"/>
              </a:rPr>
              <a:t>各自獨立成組，但都直接影響「誰能看到什麼」的判斷。</a:t>
            </a:r>
          </a:p>
        </p:txBody>
      </p:sp>
      <p:pic>
        <p:nvPicPr>
          <p:cNvPr id="5" name="Picture 4" descr="organiz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3423818" cy="192589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2103120"/>
            <a:ext cx="3423818" cy="1925897"/>
          </a:xfrm>
          <a:prstGeom prst="rect">
            <a:avLst/>
          </a:prstGeom>
          <a:noFill/>
          <a:ln w="12700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083881"/>
            <a:ext cx="34238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8636F"/>
                </a:solidFill>
                <a:latin typeface="Consolas"/>
                <a:ea typeface="Consolas"/>
              </a:rPr>
              <a:t>/admin/organizations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03337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2430"/>
                </a:solidFill>
                <a:latin typeface="Microsoft JhengHei"/>
                <a:ea typeface="Microsoft JhengHei"/>
              </a:rPr>
              <a:t>企業組織管理（含 [id] 詳情頁）</a:t>
            </a:r>
          </a:p>
        </p:txBody>
      </p:sp>
      <p:pic>
        <p:nvPicPr>
          <p:cNvPr id="9" name="Picture 8" descr="ro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938" y="2103120"/>
            <a:ext cx="3423818" cy="192589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383938" y="2103120"/>
            <a:ext cx="3423818" cy="1925897"/>
          </a:xfrm>
          <a:prstGeom prst="rect">
            <a:avLst/>
          </a:prstGeom>
          <a:noFill/>
          <a:ln w="12700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4083881"/>
            <a:ext cx="34238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8636F"/>
                </a:solidFill>
                <a:latin typeface="Consolas"/>
                <a:ea typeface="Consolas"/>
              </a:rPr>
              <a:t>/admin/roles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3938" y="4303337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2430"/>
                </a:solidFill>
                <a:latin typeface="Microsoft JhengHei"/>
                <a:ea typeface="Microsoft JhengHei"/>
              </a:rPr>
              <a:t>角色權限管理</a:t>
            </a:r>
          </a:p>
        </p:txBody>
      </p:sp>
      <p:pic>
        <p:nvPicPr>
          <p:cNvPr id="13" name="Picture 12" descr="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2103120"/>
            <a:ext cx="3423818" cy="192589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127796" y="2103120"/>
            <a:ext cx="3423818" cy="1925897"/>
          </a:xfrm>
          <a:prstGeom prst="rect">
            <a:avLst/>
          </a:prstGeom>
          <a:noFill/>
          <a:ln w="12700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7796" y="4083881"/>
            <a:ext cx="34238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8636F"/>
                </a:solidFill>
                <a:latin typeface="Consolas"/>
                <a:ea typeface="Consolas"/>
              </a:rPr>
              <a:t>/admin/analytics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6" y="4303337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2430"/>
                </a:solidFill>
                <a:latin typeface="Microsoft JhengHei"/>
                <a:ea typeface="Microsoft JhengHei"/>
              </a:rPr>
              <a:t>網站流量分析（GA4）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6F6B"/>
                </a:solidFill>
                <a:latin typeface="Microsoft JhengHei"/>
                <a:ea typeface="Microsoft JhengHei"/>
              </a:rPr>
              <a:t>04 · 權限矩陣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430"/>
                </a:solidFill>
                <a:latin typeface="Microsoft JhengHei"/>
                <a:ea typeface="Microsoft JhengHei"/>
              </a:rPr>
              <a:t>誰能看到哪些頁面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8636F"/>
                </a:solidFill>
                <a:latin typeface="Microsoft JhengHei"/>
                <a:ea typeface="Microsoft JhengHei"/>
              </a:rPr>
              <a:t>內建預設矩陣立即生效，DynamoDB 覆寫（透過 /admin/roles 設定）優先於預設值。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6766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130552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8636F"/>
                </a:solidFill>
                <a:latin typeface="Microsoft JhengHei"/>
                <a:ea typeface="Microsoft JhengHei"/>
              </a:rPr>
              <a:t>角色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2130552"/>
            <a:ext cx="3913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8636F"/>
                </a:solidFill>
                <a:latin typeface="Microsoft JhengHei"/>
                <a:ea typeface="Microsoft JhengHei"/>
              </a:rPr>
              <a:t>預設可見範圍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2130552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8636F"/>
                </a:solidFill>
                <a:latin typeface="Microsoft JhengHei"/>
                <a:ea typeface="Microsoft JhengHei"/>
              </a:rPr>
              <a:t>層級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41448"/>
            <a:ext cx="6766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1" y="2514600"/>
            <a:ext cx="144475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2430"/>
                </a:solidFill>
                <a:latin typeface="Consolas"/>
                <a:ea typeface="Consolas"/>
              </a:rPr>
              <a:t>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2514600"/>
            <a:ext cx="3877056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B2430"/>
                </a:solidFill>
                <a:latin typeface="Consolas"/>
                <a:ea typeface="Consolas"/>
              </a:rPr>
              <a:t>整個 /admin/** 後台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546603"/>
            <a:ext cx="914400" cy="292608"/>
          </a:xfrm>
          <a:prstGeom prst="roundRect">
            <a:avLst>
              <a:gd name="adj" fmla="val 6000"/>
            </a:avLst>
          </a:prstGeom>
          <a:solidFill>
            <a:srgbClr val="D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F4D4A"/>
                </a:solidFill>
                <a:latin typeface="Microsoft JhengHei"/>
                <a:ea typeface="Microsoft JhengHei"/>
              </a:rPr>
              <a:t>全權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44368"/>
            <a:ext cx="6766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1" y="3017520"/>
            <a:ext cx="144475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2430"/>
                </a:solidFill>
                <a:latin typeface="Consolas"/>
                <a:ea typeface="Consolas"/>
              </a:rPr>
              <a:t>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3017520"/>
            <a:ext cx="3877056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B2430"/>
                </a:solidFill>
                <a:latin typeface="Consolas"/>
                <a:ea typeface="Consolas"/>
              </a:rPr>
              <a:t>整個 /admin/**（cron / 系統用）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049523"/>
            <a:ext cx="914400" cy="292608"/>
          </a:xfrm>
          <a:prstGeom prst="roundRect">
            <a:avLst>
              <a:gd name="adj" fmla="val 6000"/>
            </a:avLst>
          </a:prstGeom>
          <a:solidFill>
            <a:srgbClr val="D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F4D4A"/>
                </a:solidFill>
                <a:latin typeface="Microsoft JhengHei"/>
                <a:ea typeface="Microsoft JhengHei"/>
              </a:rPr>
              <a:t>全權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47287"/>
            <a:ext cx="67665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1" y="3520439"/>
            <a:ext cx="1444752" cy="9418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2430"/>
                </a:solidFill>
                <a:latin typeface="Consolas"/>
                <a:ea typeface="Consolas"/>
              </a:rPr>
              <a:t>dept_admin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3520439"/>
            <a:ext cx="3877056" cy="9418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B2430"/>
                </a:solidFill>
                <a:latin typeface="Consolas"/>
                <a:ea typeface="Consolas"/>
              </a:rPr>
              <a:t>/admin/learners 、 /admin/analytics 、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1B2430"/>
                </a:solidFill>
                <a:latin typeface="Consolas"/>
                <a:ea typeface="Consolas"/>
              </a:rPr>
              <a:t>/admin/learning-paths/assign 、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1B2430"/>
                </a:solidFill>
                <a:latin typeface="Consolas"/>
                <a:ea typeface="Consolas"/>
              </a:rPr>
              <a:t>/admin/organizations/*/members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826763"/>
            <a:ext cx="914400" cy="292608"/>
          </a:xfrm>
          <a:prstGeom prst="roundRect">
            <a:avLst>
              <a:gd name="adj" fmla="val 6000"/>
            </a:avLst>
          </a:prstGeom>
          <a:solidFill>
            <a:srgbClr val="FB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B45309"/>
                </a:solidFill>
                <a:latin typeface="Microsoft JhengHei"/>
                <a:ea typeface="Microsoft JhengHei"/>
              </a:rPr>
              <a:t>限本部門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98848"/>
            <a:ext cx="6766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1" y="4572000"/>
            <a:ext cx="144475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2430"/>
                </a:solidFill>
                <a:latin typeface="Consolas"/>
                <a:ea typeface="Consolas"/>
              </a:rPr>
              <a:t>teacher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7712" y="4572000"/>
            <a:ext cx="3877056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B2430"/>
                </a:solidFill>
                <a:latin typeface="Consolas"/>
                <a:ea typeface="Consolas"/>
              </a:rPr>
              <a:t>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604004"/>
            <a:ext cx="914400" cy="292608"/>
          </a:xfrm>
          <a:prstGeom prst="roundRect">
            <a:avLst>
              <a:gd name="adj" fmla="val 6000"/>
            </a:avLst>
          </a:prstGeom>
          <a:solidFill>
            <a:srgbClr val="F6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B3261E"/>
                </a:solidFill>
                <a:latin typeface="Microsoft JhengHei"/>
                <a:ea typeface="Microsoft JhengHei"/>
              </a:rPr>
              <a:t>無存取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001768"/>
            <a:ext cx="6766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1" y="5074920"/>
            <a:ext cx="144475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2430"/>
                </a:solidFill>
                <a:latin typeface="Consolas"/>
                <a:ea typeface="Consolas"/>
              </a:rPr>
              <a:t>student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67712" y="5074920"/>
            <a:ext cx="3877056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B2430"/>
                </a:solidFill>
                <a:latin typeface="Consolas"/>
                <a:ea typeface="Consolas"/>
              </a:rPr>
              <a:t>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5106924"/>
            <a:ext cx="914400" cy="292608"/>
          </a:xfrm>
          <a:prstGeom prst="roundRect">
            <a:avLst>
              <a:gd name="adj" fmla="val 6000"/>
            </a:avLst>
          </a:prstGeom>
          <a:solidFill>
            <a:srgbClr val="F6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B3261E"/>
                </a:solidFill>
                <a:latin typeface="Microsoft JhengHei"/>
                <a:ea typeface="Microsoft JhengHei"/>
              </a:rPr>
              <a:t>無存取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2057400"/>
            <a:ext cx="3749039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B2430"/>
                </a:solidFill>
                <a:latin typeface="Microsoft JhengHei"/>
                <a:ea typeface="Microsoft JhengHei"/>
              </a:rPr>
              <a:t>canAccessPage(role, path)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56032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58636F"/>
                </a:solidFill>
                <a:latin typeface="Microsoft JhengHei"/>
                <a:ea typeface="Microsoft JhengHei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2788920"/>
            <a:ext cx="3749039" cy="685800"/>
          </a:xfrm>
          <a:prstGeom prst="roundRect">
            <a:avLst>
              <a:gd name="adj" fmla="val 6000"/>
            </a:avLst>
          </a:prstGeom>
          <a:solidFill>
            <a:srgbClr val="D9ECE9"/>
          </a:solidFill>
          <a:ln w="9525">
            <a:solidFill>
              <a:srgbClr val="2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4D4A"/>
                </a:solidFill>
                <a:latin typeface="Microsoft JhengHei"/>
                <a:ea typeface="Microsoft JhengHei"/>
              </a:rPr>
              <a:t>① 查 DynamoDB</a:t>
            </a:r>
          </a:p>
          <a:p>
            <a:pPr algn="ctr"/>
            <a:r>
              <a:rPr sz="900" b="0">
                <a:solidFill>
                  <a:srgbClr val="58636F"/>
                </a:solidFill>
                <a:latin typeface="Microsoft JhengHei"/>
                <a:ea typeface="Microsoft JhengHei"/>
              </a:rPr>
              <a:t>PagePermissionsTable · GSI RolePathIndex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47472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58636F"/>
                </a:solidFill>
                <a:latin typeface="Microsoft JhengHei"/>
                <a:ea typeface="Microsoft JhengHei"/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02152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8636F"/>
                </a:solidFill>
                <a:latin typeface="Microsoft JhengHei"/>
                <a:ea typeface="Microsoft JhengHei"/>
              </a:rPr>
              <a:t>無覆寫 / 查詢失敗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749039"/>
            <a:ext cx="3749039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B2430"/>
                </a:solidFill>
                <a:latin typeface="Microsoft JhengHei"/>
                <a:ea typeface="Microsoft JhengHei"/>
              </a:rPr>
              <a:t>② 退回內建預設矩陣</a:t>
            </a:r>
          </a:p>
          <a:p>
            <a:pPr algn="ctr"/>
            <a:r>
              <a:rPr sz="900" b="0">
                <a:solidFill>
                  <a:srgbClr val="58636F"/>
                </a:solidFill>
                <a:latin typeface="Microsoft JhengHei"/>
                <a:ea typeface="Microsoft JhengHei"/>
              </a:rPr>
              <a:t>DEFAULT_PAGE_PERMISSIONS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57200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8636F"/>
                </a:solidFill>
                <a:latin typeface="Microsoft JhengHei"/>
                <a:ea typeface="Microsoft JhengHei"/>
              </a:rPr>
              <a:t>找到覆寫即直接回傳，優先於預設值；DB 異常時安全退回預設。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6F6B"/>
                </a:solidFill>
                <a:latin typeface="Microsoft JhengHei"/>
                <a:ea typeface="Microsoft JhengHei"/>
              </a:rPr>
              <a:t>05 · 現況觀察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430"/>
                </a:solidFill>
                <a:latin typeface="Microsoft JhengHei"/>
                <a:ea typeface="Microsoft JhengHei"/>
              </a:rPr>
              <a:t>盤點過程中發現的兩個落差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8636F"/>
                </a:solidFill>
                <a:latin typeface="Microsoft JhengHei"/>
                <a:ea typeface="Microsoft JhengHei"/>
              </a:rPr>
              <a:t>整理示意圖時順手核對了程式碼與文件是否一致，發現兩處值得留意，先記錄下來，不在本次簡報範圍內動手修改。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FBE8D2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300" b="1">
                <a:solidFill>
                  <a:srgbClr val="B45309"/>
                </a:solidFill>
                <a:latin typeface="Microsoft JhengHei"/>
                <a:ea typeface="Microsoft JhengHei"/>
              </a:rPr>
              <a:t>⚠  middleware.ts 目前沒有注入 x-pathname</a:t>
            </a:r>
          </a:p>
          <a:p>
            <a:pPr>
              <a:lnSpc>
                <a:spcPct val="125000"/>
              </a:lnSpc>
            </a:pPr>
            <a:r>
              <a:rPr sz="1050" b="0">
                <a:solidFill>
                  <a:srgbClr val="1B2430"/>
                </a:solidFill>
                <a:latin typeface="Microsoft JhengHei"/>
                <a:ea typeface="Microsoft JhengHei"/>
              </a:rPr>
              <a:t>app/admin/layout.tsx 的註解與程式碼都預期由 middleware 寫入目前路徑的 header，但目前 middleware.ts 只處理快取標頭，未設定 x-pathname。結果是 pathname 永遠退回硬編碼預設值 /admin，「③ 頁面權限矩陣」實際上可能一律用 /admin 判斷，而非請求的真實子路徑。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11880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FBE8D2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300" b="1">
                <a:solidFill>
                  <a:srgbClr val="B45309"/>
                </a:solidFill>
                <a:latin typeface="Microsoft JhengHei"/>
                <a:ea typeface="Microsoft JhengHei"/>
              </a:rPr>
              <a:t>⚠  lib/adminRoutes.ts 的分組路徑尚未落地</a:t>
            </a:r>
          </a:p>
          <a:p>
            <a:pPr>
              <a:lnSpc>
                <a:spcPct val="125000"/>
              </a:lnSpc>
            </a:pPr>
            <a:r>
              <a:rPr sz="1050" b="0">
                <a:solidFill>
                  <a:srgbClr val="1B2430"/>
                </a:solidFill>
                <a:latin typeface="Microsoft JhengHei"/>
                <a:ea typeface="Microsoft JhengHei"/>
              </a:rPr>
              <a:t>manifest 內財務、審核兩組使用了 /admin/finance/orders、/admin/reviews/teacher-reviews 這類分組路徑，但實際頁面與 components/MenuBar.tsx 的連結仍是扇平路徑（如 /admin/orders）。這份 manifest 看起來是一次尚未執行完的重構目標，本簡報採用的是「實際存在」的路徑。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